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602700" cy="32404050"/>
  <p:notesSz cx="6858000" cy="9144000"/>
  <p:defaultTextStyle>
    <a:defPPr>
      <a:defRPr lang="es-ES"/>
    </a:defPPr>
    <a:lvl1pPr marL="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430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861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6291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1722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7152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2583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8013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3444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47"/>
    <a:srgbClr val="FF7D7D"/>
    <a:srgbClr val="FF99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134" autoAdjust="0"/>
  </p:normalViewPr>
  <p:slideViewPr>
    <p:cSldViewPr>
      <p:cViewPr>
        <p:scale>
          <a:sx n="40" d="100"/>
          <a:sy n="40" d="100"/>
        </p:scale>
        <p:origin x="-600" y="4236"/>
      </p:cViewPr>
      <p:guideLst>
        <p:guide orient="horz" pos="10206"/>
        <p:guide pos="68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620203" y="10066265"/>
            <a:ext cx="18362295" cy="69458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40405" y="18362295"/>
            <a:ext cx="15121890" cy="828103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62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17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715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258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06465" y="20822604"/>
            <a:ext cx="18362295" cy="6435804"/>
          </a:xfrm>
        </p:spPr>
        <p:txBody>
          <a:bodyPr anchor="t"/>
          <a:lstStyle>
            <a:lvl1pPr algn="l">
              <a:defRPr sz="135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06465" y="13734223"/>
            <a:ext cx="18362295" cy="7088382"/>
          </a:xfrm>
        </p:spPr>
        <p:txBody>
          <a:bodyPr anchor="b"/>
          <a:lstStyle>
            <a:lvl1pPr marL="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1pPr>
            <a:lvl2pPr marL="154305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2pPr>
            <a:lvl3pPr marL="30861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6291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4pPr>
            <a:lvl5pPr marL="61722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5pPr>
            <a:lvl6pPr marL="77152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6pPr>
            <a:lvl7pPr marL="92583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10103" y="10081262"/>
            <a:ext cx="7110889" cy="28511067"/>
          </a:xfrm>
        </p:spPr>
        <p:txBody>
          <a:bodyPr/>
          <a:lstStyle>
            <a:lvl1pPr>
              <a:defRPr sz="95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8281036" y="10081262"/>
            <a:ext cx="7110889" cy="28511067"/>
          </a:xfrm>
        </p:spPr>
        <p:txBody>
          <a:bodyPr/>
          <a:lstStyle>
            <a:lvl1pPr>
              <a:defRPr sz="95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135" y="1297665"/>
            <a:ext cx="19442430" cy="5400675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137" y="7253408"/>
            <a:ext cx="9544944" cy="3022875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800" b="1"/>
            </a:lvl2pPr>
            <a:lvl3pPr marL="3086100" indent="0">
              <a:buNone/>
              <a:defRPr sz="6100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80137" y="10276283"/>
            <a:ext cx="9544944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0973874" y="7253408"/>
            <a:ext cx="9548693" cy="3022875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800" b="1"/>
            </a:lvl2pPr>
            <a:lvl3pPr marL="3086100" indent="0">
              <a:buNone/>
              <a:defRPr sz="6100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0973874" y="10276283"/>
            <a:ext cx="9548693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137" y="1290163"/>
            <a:ext cx="7107140" cy="5490686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446056" y="1290164"/>
            <a:ext cx="12076511" cy="27655960"/>
          </a:xfrm>
        </p:spPr>
        <p:txBody>
          <a:bodyPr/>
          <a:lstStyle>
            <a:lvl1pPr>
              <a:defRPr sz="10800"/>
            </a:lvl1pPr>
            <a:lvl2pPr>
              <a:defRPr sz="9500"/>
            </a:lvl2pPr>
            <a:lvl3pPr>
              <a:defRPr sz="8100"/>
            </a:lvl3pPr>
            <a:lvl4pPr>
              <a:defRPr sz="6800"/>
            </a:lvl4pPr>
            <a:lvl5pPr>
              <a:defRPr sz="6800"/>
            </a:lvl5pPr>
            <a:lvl6pPr>
              <a:defRPr sz="6800"/>
            </a:lvl6pPr>
            <a:lvl7pPr>
              <a:defRPr sz="6800"/>
            </a:lvl7pPr>
            <a:lvl8pPr>
              <a:defRPr sz="6800"/>
            </a:lvl8pPr>
            <a:lvl9pPr>
              <a:defRPr sz="6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080137" y="6780850"/>
            <a:ext cx="7107140" cy="22165274"/>
          </a:xfrm>
        </p:spPr>
        <p:txBody>
          <a:bodyPr/>
          <a:lstStyle>
            <a:lvl1pPr marL="0" indent="0">
              <a:buNone/>
              <a:defRPr sz="4700"/>
            </a:lvl1pPr>
            <a:lvl2pPr marL="1543050" indent="0">
              <a:buNone/>
              <a:defRPr sz="4100"/>
            </a:lvl2pPr>
            <a:lvl3pPr marL="3086100" indent="0">
              <a:buNone/>
              <a:defRPr sz="3400"/>
            </a:lvl3pPr>
            <a:lvl4pPr marL="4629150" indent="0">
              <a:buNone/>
              <a:defRPr sz="3000"/>
            </a:lvl4pPr>
            <a:lvl5pPr marL="6172200" indent="0">
              <a:buNone/>
              <a:defRPr sz="3000"/>
            </a:lvl5pPr>
            <a:lvl6pPr marL="7715250" indent="0">
              <a:buNone/>
              <a:defRPr sz="3000"/>
            </a:lvl6pPr>
            <a:lvl7pPr marL="9258300" indent="0">
              <a:buNone/>
              <a:defRPr sz="3000"/>
            </a:lvl7pPr>
            <a:lvl8pPr marL="10801350" indent="0">
              <a:buNone/>
              <a:defRPr sz="3000"/>
            </a:lvl8pPr>
            <a:lvl9pPr marL="12344400" indent="0">
              <a:buNone/>
              <a:defRPr sz="3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34280" y="22682837"/>
            <a:ext cx="12961620" cy="2677838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234280" y="2895361"/>
            <a:ext cx="12961620" cy="19442430"/>
          </a:xfrm>
        </p:spPr>
        <p:txBody>
          <a:bodyPr/>
          <a:lstStyle>
            <a:lvl1pPr marL="0" indent="0">
              <a:buNone/>
              <a:defRPr sz="10800"/>
            </a:lvl1pPr>
            <a:lvl2pPr marL="1543050" indent="0">
              <a:buNone/>
              <a:defRPr sz="9500"/>
            </a:lvl2pPr>
            <a:lvl3pPr marL="3086100" indent="0">
              <a:buNone/>
              <a:defRPr sz="8100"/>
            </a:lvl3pPr>
            <a:lvl4pPr marL="4629150" indent="0">
              <a:buNone/>
              <a:defRPr sz="6800"/>
            </a:lvl4pPr>
            <a:lvl5pPr marL="6172200" indent="0">
              <a:buNone/>
              <a:defRPr sz="6800"/>
            </a:lvl5pPr>
            <a:lvl6pPr marL="7715250" indent="0">
              <a:buNone/>
              <a:defRPr sz="6800"/>
            </a:lvl6pPr>
            <a:lvl7pPr marL="9258300" indent="0">
              <a:buNone/>
              <a:defRPr sz="6800"/>
            </a:lvl7pPr>
            <a:lvl8pPr marL="10801350" indent="0">
              <a:buNone/>
              <a:defRPr sz="6800"/>
            </a:lvl8pPr>
            <a:lvl9pPr marL="12344400" indent="0">
              <a:buNone/>
              <a:defRPr sz="68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234280" y="25360675"/>
            <a:ext cx="12961620" cy="3802972"/>
          </a:xfrm>
        </p:spPr>
        <p:txBody>
          <a:bodyPr/>
          <a:lstStyle>
            <a:lvl1pPr marL="0" indent="0">
              <a:buNone/>
              <a:defRPr sz="4700"/>
            </a:lvl1pPr>
            <a:lvl2pPr marL="1543050" indent="0">
              <a:buNone/>
              <a:defRPr sz="4100"/>
            </a:lvl2pPr>
            <a:lvl3pPr marL="3086100" indent="0">
              <a:buNone/>
              <a:defRPr sz="3400"/>
            </a:lvl3pPr>
            <a:lvl4pPr marL="4629150" indent="0">
              <a:buNone/>
              <a:defRPr sz="3000"/>
            </a:lvl4pPr>
            <a:lvl5pPr marL="6172200" indent="0">
              <a:buNone/>
              <a:defRPr sz="3000"/>
            </a:lvl5pPr>
            <a:lvl6pPr marL="7715250" indent="0">
              <a:buNone/>
              <a:defRPr sz="3000"/>
            </a:lvl6pPr>
            <a:lvl7pPr marL="9258300" indent="0">
              <a:buNone/>
              <a:defRPr sz="3000"/>
            </a:lvl7pPr>
            <a:lvl8pPr marL="10801350" indent="0">
              <a:buNone/>
              <a:defRPr sz="3000"/>
            </a:lvl8pPr>
            <a:lvl9pPr marL="12344400" indent="0">
              <a:buNone/>
              <a:defRPr sz="3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1746467" y="1732720"/>
            <a:ext cx="3645457" cy="3685960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0103" y="1732720"/>
            <a:ext cx="10576323" cy="3685960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</p:spPr>
        <p:txBody>
          <a:bodyPr vert="horz" lIns="308610" tIns="154305" rIns="308610" bIns="154305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135" y="7560950"/>
            <a:ext cx="19442430" cy="21385174"/>
          </a:xfrm>
          <a:prstGeom prst="rect">
            <a:avLst/>
          </a:prstGeom>
        </p:spPr>
        <p:txBody>
          <a:bodyPr vert="horz" lIns="308610" tIns="154305" rIns="308610" bIns="154305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080135" y="30033758"/>
            <a:ext cx="5040630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l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3A55B-831A-4FAD-AF8D-6453BD46F65D}" type="datetimeFigureOut">
              <a:rPr lang="es-ES" smtClean="0"/>
              <a:pPr/>
              <a:t>14/11/2025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7380923" y="30033758"/>
            <a:ext cx="6840855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ct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5481935" y="30033758"/>
            <a:ext cx="5040630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3E4D-13F7-4BBC-AE48-D6E7928D76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0" rtl="0" eaLnBrk="1" latinLnBrk="0" hangingPunct="1">
        <a:spcBef>
          <a:spcPct val="0"/>
        </a:spcBef>
        <a:buNone/>
        <a:defRPr sz="1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7288" indent="-1157288" algn="l" defTabSz="3086100" rtl="0" eaLnBrk="1" latinLnBrk="0" hangingPunct="1">
        <a:spcBef>
          <a:spcPct val="20000"/>
        </a:spcBef>
        <a:buFont typeface="Arial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1pPr>
      <a:lvl2pPr marL="2507456" indent="-964406" algn="l" defTabSz="308610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2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75" indent="-771525" algn="l" defTabSz="3086100" rtl="0" eaLnBrk="1" latinLnBrk="0" hangingPunct="1">
        <a:spcBef>
          <a:spcPct val="20000"/>
        </a:spcBef>
        <a:buFont typeface="Arial" pitchFamily="34" charset="0"/>
        <a:buChar char="–"/>
        <a:defRPr sz="6800" kern="1200">
          <a:solidFill>
            <a:schemeClr val="tx1"/>
          </a:solidFill>
          <a:latin typeface="+mn-lt"/>
          <a:ea typeface="+mn-ea"/>
          <a:cs typeface="+mn-cs"/>
        </a:defRPr>
      </a:lvl4pPr>
      <a:lvl5pPr marL="6943725" indent="-771525" algn="l" defTabSz="3086100" rtl="0" eaLnBrk="1" latinLnBrk="0" hangingPunct="1">
        <a:spcBef>
          <a:spcPct val="20000"/>
        </a:spcBef>
        <a:buFont typeface="Arial" pitchFamily="34" charset="0"/>
        <a:buChar char="»"/>
        <a:defRPr sz="6800" kern="1200">
          <a:solidFill>
            <a:schemeClr val="tx1"/>
          </a:solidFill>
          <a:latin typeface="+mn-lt"/>
          <a:ea typeface="+mn-ea"/>
          <a:cs typeface="+mn-cs"/>
        </a:defRPr>
      </a:lvl5pPr>
      <a:lvl6pPr marL="848677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2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7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2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ciber\Desktop\Blanca 2\autoviolentometro (2)-imágenes-0.jpg"/>
          <p:cNvPicPr>
            <a:picLocks noChangeAspect="1" noChangeArrowheads="1"/>
          </p:cNvPicPr>
          <p:nvPr/>
        </p:nvPicPr>
        <p:blipFill>
          <a:blip r:embed="rId2"/>
          <a:srcRect l="15517" r="29310"/>
          <a:stretch>
            <a:fillRect/>
          </a:stretch>
        </p:blipFill>
        <p:spPr bwMode="auto">
          <a:xfrm>
            <a:off x="1300096" y="13344505"/>
            <a:ext cx="5786478" cy="16573616"/>
          </a:xfrm>
          <a:prstGeom prst="rect">
            <a:avLst/>
          </a:prstGeom>
          <a:noFill/>
        </p:spPr>
      </p:pic>
      <p:sp>
        <p:nvSpPr>
          <p:cNvPr id="8" name="7 CuadroTexto"/>
          <p:cNvSpPr txBox="1"/>
          <p:nvPr/>
        </p:nvSpPr>
        <p:spPr>
          <a:xfrm rot="16200000">
            <a:off x="-2278864" y="15668356"/>
            <a:ext cx="650086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¡Date cuenta y modérate!</a:t>
            </a:r>
          </a:p>
          <a:p>
            <a:pPr algn="ctr"/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ES" sz="3400" b="1" dirty="0" err="1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autoviolencia</a:t>
            </a:r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 aumentará</a:t>
            </a:r>
            <a:endParaRPr lang="es-ES" sz="3400" b="1" dirty="0">
              <a:solidFill>
                <a:srgbClr val="660066"/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 rot="16200000">
            <a:off x="-1945250" y="21014631"/>
            <a:ext cx="61436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¡Reflexiona / reacciona!</a:t>
            </a:r>
          </a:p>
          <a:p>
            <a:pPr algn="ctr"/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No te autodestruyas</a:t>
            </a:r>
          </a:p>
          <a:p>
            <a:pPr algn="ctr"/>
            <a:endParaRPr lang="es-ES" sz="3400" b="1" dirty="0">
              <a:solidFill>
                <a:srgbClr val="660066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 rot="16200000">
            <a:off x="-1699593" y="26551075"/>
            <a:ext cx="564360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¡Necesitas ayuda </a:t>
            </a:r>
          </a:p>
          <a:p>
            <a:pPr algn="ctr"/>
            <a:r>
              <a:rPr lang="es-ES" sz="3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de los Profesionales!</a:t>
            </a:r>
          </a:p>
          <a:p>
            <a:pPr algn="ctr"/>
            <a:endParaRPr lang="es-ES" sz="3400" b="1" dirty="0">
              <a:solidFill>
                <a:srgbClr val="660066"/>
              </a:solidFill>
            </a:endParaRPr>
          </a:p>
        </p:txBody>
      </p:sp>
      <p:pic>
        <p:nvPicPr>
          <p:cNvPr id="11" name="Picture 2" descr="C:\Users\ciber\Desktop\amorometro.jpg"/>
          <p:cNvPicPr preferRelativeResize="0">
            <a:picLocks noChangeAspect="1" noChangeArrowheads="1"/>
          </p:cNvPicPr>
          <p:nvPr/>
        </p:nvPicPr>
        <p:blipFill>
          <a:blip r:embed="rId3"/>
          <a:srcRect l="43163" t="29435" r="27050" b="7480"/>
          <a:stretch>
            <a:fillRect/>
          </a:stretch>
        </p:blipFill>
        <p:spPr bwMode="auto">
          <a:xfrm>
            <a:off x="6864710" y="13344505"/>
            <a:ext cx="7008474" cy="16573616"/>
          </a:xfrm>
          <a:prstGeom prst="rect">
            <a:avLst/>
          </a:prstGeom>
          <a:noFill/>
        </p:spPr>
      </p:pic>
      <p:pic>
        <p:nvPicPr>
          <p:cNvPr id="14" name="13 Imagen" descr="unnamed.png"/>
          <p:cNvPicPr>
            <a:picLocks noChangeAspect="1"/>
          </p:cNvPicPr>
          <p:nvPr/>
        </p:nvPicPr>
        <p:blipFill>
          <a:blip r:embed="rId4">
            <a:lum bright="15000" contrast="20000"/>
          </a:blip>
          <a:stretch>
            <a:fillRect/>
          </a:stretch>
        </p:blipFill>
        <p:spPr>
          <a:xfrm>
            <a:off x="3514674" y="6057829"/>
            <a:ext cx="6624000" cy="6624000"/>
          </a:xfrm>
          <a:prstGeom prst="rect">
            <a:avLst/>
          </a:prstGeom>
        </p:spPr>
      </p:pic>
      <p:sp>
        <p:nvSpPr>
          <p:cNvPr id="16" name="15 CuadroTexto"/>
          <p:cNvSpPr txBox="1"/>
          <p:nvPr/>
        </p:nvSpPr>
        <p:spPr>
          <a:xfrm>
            <a:off x="6729384" y="11415679"/>
            <a:ext cx="657229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AMOR ÁGAPE</a:t>
            </a:r>
          </a:p>
          <a:p>
            <a:pPr algn="ctr"/>
            <a:r>
              <a:rPr lang="es-ES" sz="4000" b="1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3600" b="1" u="sng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(AMOROMETRO</a:t>
            </a:r>
            <a:r>
              <a:rPr lang="es-ES" sz="3600" b="1" u="sng" dirty="0" smtClean="0">
                <a:solidFill>
                  <a:srgbClr val="FF4747"/>
                </a:solidFill>
              </a:rPr>
              <a:t>)</a:t>
            </a:r>
            <a:endParaRPr lang="es-ES" sz="3600" b="1" u="sng" dirty="0">
              <a:solidFill>
                <a:srgbClr val="FF4747"/>
              </a:solidFill>
            </a:endParaRPr>
          </a:p>
        </p:txBody>
      </p:sp>
      <p:pic>
        <p:nvPicPr>
          <p:cNvPr id="17" name="16 Imagen" descr="unnamed.png"/>
          <p:cNvPicPr>
            <a:picLocks noChangeAspect="1"/>
          </p:cNvPicPr>
          <p:nvPr/>
        </p:nvPicPr>
        <p:blipFill>
          <a:blip r:embed="rId4">
            <a:lum bright="10000" contrast="40000"/>
          </a:blip>
          <a:srcRect r="50157"/>
          <a:stretch>
            <a:fillRect/>
          </a:stretch>
        </p:blipFill>
        <p:spPr>
          <a:xfrm>
            <a:off x="3586112" y="6057829"/>
            <a:ext cx="3301596" cy="6624000"/>
          </a:xfrm>
          <a:prstGeom prst="rect">
            <a:avLst/>
          </a:prstGeom>
        </p:spPr>
      </p:pic>
      <p:sp>
        <p:nvSpPr>
          <p:cNvPr id="18" name="17 CuadroTexto"/>
          <p:cNvSpPr txBox="1"/>
          <p:nvPr/>
        </p:nvSpPr>
        <p:spPr>
          <a:xfrm>
            <a:off x="871468" y="11530882"/>
            <a:ext cx="6572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CERO AMOR</a:t>
            </a:r>
          </a:p>
          <a:p>
            <a:pPr algn="ctr"/>
            <a:r>
              <a:rPr lang="es-ES" sz="36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3200" b="1" u="sng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(AUTOVIOLENTOMETRO</a:t>
            </a:r>
            <a:r>
              <a:rPr lang="es-ES" sz="3200" b="1" u="sng" dirty="0" smtClean="0">
                <a:solidFill>
                  <a:srgbClr val="660066"/>
                </a:solidFill>
              </a:rPr>
              <a:t>)</a:t>
            </a:r>
            <a:endParaRPr lang="es-ES" sz="3200" b="1" u="sng" dirty="0">
              <a:solidFill>
                <a:srgbClr val="660066"/>
              </a:solidFill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1371534" y="12821285"/>
            <a:ext cx="6500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u="sng" dirty="0" smtClean="0"/>
              <a:t>…Sí, la </a:t>
            </a:r>
            <a:r>
              <a:rPr lang="es-ES" sz="2800" u="sng" dirty="0" err="1" smtClean="0"/>
              <a:t>autoviolencia</a:t>
            </a:r>
            <a:r>
              <a:rPr lang="es-ES" sz="2800" u="sng" dirty="0" smtClean="0"/>
              <a:t> también se mide</a:t>
            </a:r>
            <a:endParaRPr lang="es-ES" sz="2800" u="sng" dirty="0"/>
          </a:p>
        </p:txBody>
      </p:sp>
      <p:sp>
        <p:nvSpPr>
          <p:cNvPr id="20" name="19 CuadroTexto"/>
          <p:cNvSpPr txBox="1"/>
          <p:nvPr/>
        </p:nvSpPr>
        <p:spPr>
          <a:xfrm>
            <a:off x="7086574" y="12821285"/>
            <a:ext cx="6500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u="sng" dirty="0" smtClean="0"/>
              <a:t>…Sí, el amor también se trabaja</a:t>
            </a:r>
            <a:endParaRPr lang="es-ES" sz="2800" u="sng" dirty="0"/>
          </a:p>
        </p:txBody>
      </p:sp>
      <p:sp>
        <p:nvSpPr>
          <p:cNvPr id="21" name="20 CuadroTexto"/>
          <p:cNvSpPr txBox="1"/>
          <p:nvPr/>
        </p:nvSpPr>
        <p:spPr>
          <a:xfrm>
            <a:off x="3371798" y="0"/>
            <a:ext cx="152067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CERO AMOR v</a:t>
            </a:r>
            <a:r>
              <a:rPr lang="es-ES" sz="6600" b="1" dirty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s-ES" sz="66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6600" b="1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AMOR ÁGAPE</a:t>
            </a:r>
          </a:p>
          <a:p>
            <a:pPr algn="ctr"/>
            <a:r>
              <a:rPr lang="es-ES" sz="5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ES" sz="3600" b="1" u="sng" dirty="0">
              <a:solidFill>
                <a:srgbClr val="660066"/>
              </a:solidFill>
            </a:endParaRPr>
          </a:p>
        </p:txBody>
      </p:sp>
      <p:sp>
        <p:nvSpPr>
          <p:cNvPr id="22" name="21 CuadroTexto"/>
          <p:cNvSpPr txBox="1"/>
          <p:nvPr/>
        </p:nvSpPr>
        <p:spPr>
          <a:xfrm>
            <a:off x="157088" y="747412"/>
            <a:ext cx="21074210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i="1" dirty="0" smtClean="0"/>
              <a:t>“Todo ser humano, si se lo propone, puede ser escultor de su propio cerebro.” </a:t>
            </a:r>
            <a:r>
              <a:rPr lang="es-ES" sz="4000" dirty="0" smtClean="0"/>
              <a:t>(Santiago Ramón Y Cajal).</a:t>
            </a:r>
            <a:endParaRPr lang="es-ES" sz="4400" dirty="0" smtClean="0"/>
          </a:p>
          <a:p>
            <a:pPr algn="just"/>
            <a:endParaRPr lang="es-ES" sz="100" dirty="0" smtClean="0"/>
          </a:p>
          <a:p>
            <a:pPr algn="just"/>
            <a:r>
              <a:rPr lang="es-ES" sz="3400" dirty="0" smtClean="0"/>
              <a:t>La ONU establece en la dignidad humana a través de la declaración universal de los derechos humanos (DUDH), que proclama que todos los seres humanos nacen libres e iguales en dignidad y derechos. Este principio implica que todos tenemos un valor inherente y debemos ser tratados con respeto, sin importar nuestra condición o nacionalidad.</a:t>
            </a:r>
          </a:p>
          <a:p>
            <a:pPr algn="just"/>
            <a:r>
              <a:rPr lang="es-ES" sz="3400" dirty="0" smtClean="0"/>
              <a:t>Finlandia es el país mas feliz del mundo, según el informe Mundial de la Felicidad 2025. </a:t>
            </a:r>
          </a:p>
          <a:p>
            <a:pPr algn="just"/>
            <a:r>
              <a:rPr lang="es-ES" sz="3400" dirty="0" smtClean="0"/>
              <a:t> Factores principales que contribuyen a la felicidad en Finlandia:  </a:t>
            </a:r>
          </a:p>
          <a:p>
            <a:pPr algn="just"/>
            <a:r>
              <a:rPr lang="es-ES" sz="3400" dirty="0" smtClean="0"/>
              <a:t>         Sistema de bienestar robusto                           Confianza social y comunitaria</a:t>
            </a:r>
          </a:p>
          <a:p>
            <a:pPr algn="just"/>
            <a:r>
              <a:rPr lang="es-ES" sz="3400" dirty="0" smtClean="0"/>
              <a:t>         Equilibrio vida-trabajo                                        Conexión con la naturaleza</a:t>
            </a:r>
          </a:p>
          <a:p>
            <a:pPr algn="just"/>
            <a:endParaRPr lang="es-ES" sz="3400" dirty="0" smtClean="0"/>
          </a:p>
          <a:p>
            <a:pPr algn="just"/>
            <a:endParaRPr lang="es-ES" sz="3400" dirty="0"/>
          </a:p>
        </p:txBody>
      </p:sp>
      <p:sp>
        <p:nvSpPr>
          <p:cNvPr id="25" name="24 CuadroTexto"/>
          <p:cNvSpPr txBox="1"/>
          <p:nvPr/>
        </p:nvSpPr>
        <p:spPr>
          <a:xfrm>
            <a:off x="13730308" y="8272407"/>
            <a:ext cx="7658078" cy="282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3400" b="1" i="1" dirty="0" smtClean="0"/>
          </a:p>
          <a:p>
            <a:pPr algn="just"/>
            <a:endParaRPr lang="es-ES" sz="3400" b="1" i="1" dirty="0" smtClean="0"/>
          </a:p>
          <a:p>
            <a:pPr algn="just"/>
            <a:r>
              <a:rPr lang="es-ES" sz="3400" b="1" i="1" dirty="0" smtClean="0"/>
              <a:t>Objetivo:</a:t>
            </a:r>
          </a:p>
          <a:p>
            <a:pPr algn="just"/>
            <a:r>
              <a:rPr lang="es-ES" sz="3400" dirty="0" smtClean="0"/>
              <a:t>Fortalecer la participación de toda la comunidad para que sean parte activa en el proceso educativo, logrando clarificar y construir una filosofía personal, a través de relaciones </a:t>
            </a:r>
            <a:r>
              <a:rPr lang="es-ES" sz="3400" dirty="0" err="1" smtClean="0"/>
              <a:t>intrapersonales</a:t>
            </a:r>
            <a:r>
              <a:rPr lang="es-ES" sz="3400" dirty="0" smtClean="0"/>
              <a:t> e interpersonales, más significativas y creativas, apoyados de las herramientas, Cero Amor y Amor Ágape, promoviendo  expansión de conciencia y autorregulación del individuo que impacte significativamente en la paz positiva de Sinaloa.  </a:t>
            </a:r>
          </a:p>
          <a:p>
            <a:pPr algn="just"/>
            <a:endParaRPr lang="es-ES" sz="3400" dirty="0" smtClean="0"/>
          </a:p>
          <a:p>
            <a:pPr algn="just"/>
            <a:r>
              <a:rPr lang="es-ES" sz="3400" b="1" i="1" dirty="0" smtClean="0"/>
              <a:t>Conclusión. </a:t>
            </a:r>
          </a:p>
          <a:p>
            <a:pPr algn="just"/>
            <a:endParaRPr lang="es-ES" sz="3400" dirty="0" smtClean="0"/>
          </a:p>
          <a:p>
            <a:pPr algn="just"/>
            <a:r>
              <a:rPr lang="es-ES" sz="3400" b="1" i="1" dirty="0" smtClean="0"/>
              <a:t>La violencia </a:t>
            </a:r>
            <a:r>
              <a:rPr lang="es-ES" sz="3400" dirty="0" smtClean="0"/>
              <a:t>tienes graves y varias implicaciones clínicas para la salud, afectando tanto en nivel físico como mental y emocional.</a:t>
            </a:r>
          </a:p>
          <a:p>
            <a:pPr algn="just"/>
            <a:endParaRPr lang="es-ES" sz="3400" dirty="0" smtClean="0"/>
          </a:p>
          <a:p>
            <a:pPr algn="just"/>
            <a:r>
              <a:rPr lang="es-ES" sz="3600" dirty="0" smtClean="0"/>
              <a:t>La practica de </a:t>
            </a:r>
            <a:r>
              <a:rPr lang="es-ES" sz="4000" b="1" dirty="0" smtClean="0"/>
              <a:t>Amor Ágape </a:t>
            </a:r>
            <a:r>
              <a:rPr lang="es-ES" sz="3600" dirty="0" smtClean="0"/>
              <a:t>en todos los niveles y estratos, potencializa los procesos de aprendizaje, dando como resultado una mayor presencia en nuestras aulas, según la Nueva escuela Mexicana. </a:t>
            </a:r>
          </a:p>
          <a:p>
            <a:pPr algn="just"/>
            <a:endParaRPr lang="es-ES" sz="3400" dirty="0" smtClean="0"/>
          </a:p>
          <a:p>
            <a:pPr algn="just"/>
            <a:endParaRPr lang="es-ES" sz="1400" dirty="0" smtClean="0"/>
          </a:p>
          <a:p>
            <a:pPr algn="just"/>
            <a:r>
              <a:rPr lang="es-ES" sz="3400" b="1" dirty="0" smtClean="0"/>
              <a:t>“El pájaro no canta porque es feliz, es feliz porque canta”(</a:t>
            </a:r>
            <a:r>
              <a:rPr lang="es-ES" sz="3400" dirty="0" smtClean="0"/>
              <a:t>William James</a:t>
            </a:r>
            <a:r>
              <a:rPr lang="es-ES" sz="3400" b="1" dirty="0" smtClean="0"/>
              <a:t>)</a:t>
            </a:r>
          </a:p>
          <a:p>
            <a:pPr algn="just"/>
            <a:endParaRPr lang="es-ES" sz="3400" dirty="0" smtClean="0"/>
          </a:p>
          <a:p>
            <a:pPr algn="just"/>
            <a:endParaRPr lang="es-ES" sz="3400" b="1" dirty="0" smtClean="0"/>
          </a:p>
          <a:p>
            <a:pPr algn="just"/>
            <a:endParaRPr lang="es-ES" sz="3400" dirty="0" smtClean="0"/>
          </a:p>
          <a:p>
            <a:pPr algn="just"/>
            <a:r>
              <a:rPr lang="es-ES" sz="3400" b="1" i="1" dirty="0" smtClean="0"/>
              <a:t>Metodologías: </a:t>
            </a:r>
          </a:p>
          <a:p>
            <a:pPr algn="just"/>
            <a:r>
              <a:rPr lang="es-ES" sz="3400" dirty="0" smtClean="0"/>
              <a:t>Investigación, análisis de teorías (</a:t>
            </a:r>
            <a:r>
              <a:rPr lang="es-ES" sz="3400" dirty="0" err="1" smtClean="0"/>
              <a:t>Piaget</a:t>
            </a:r>
            <a:r>
              <a:rPr lang="es-ES" sz="3400" dirty="0" smtClean="0"/>
              <a:t>, </a:t>
            </a:r>
            <a:r>
              <a:rPr lang="es-ES" sz="3400" dirty="0" err="1" smtClean="0"/>
              <a:t>Goleman</a:t>
            </a:r>
            <a:r>
              <a:rPr lang="es-ES" sz="3400" dirty="0" smtClean="0"/>
              <a:t>, </a:t>
            </a:r>
            <a:r>
              <a:rPr lang="es-ES" sz="3400" dirty="0" err="1" smtClean="0"/>
              <a:t>Seligman</a:t>
            </a:r>
            <a:r>
              <a:rPr lang="es-ES" sz="3400" dirty="0" smtClean="0"/>
              <a:t>, Ramón Y Cajal), comparación de datos, compilación de datos  y diseño grafico.</a:t>
            </a:r>
          </a:p>
          <a:p>
            <a:pPr algn="just"/>
            <a:endParaRPr lang="es-ES" sz="3400" dirty="0" smtClean="0"/>
          </a:p>
          <a:p>
            <a:pPr algn="just"/>
            <a:endParaRPr lang="es-ES" sz="3400" dirty="0"/>
          </a:p>
          <a:p>
            <a:pPr algn="just"/>
            <a:endParaRPr lang="es-ES" sz="3400" dirty="0" smtClean="0"/>
          </a:p>
          <a:p>
            <a:pPr algn="just"/>
            <a:endParaRPr lang="es-ES" sz="3400" b="1" i="1" dirty="0"/>
          </a:p>
          <a:p>
            <a:pPr algn="just"/>
            <a:endParaRPr lang="es-ES" sz="3400" b="1" i="1" dirty="0" smtClean="0"/>
          </a:p>
          <a:p>
            <a:pPr algn="just"/>
            <a:endParaRPr lang="es-ES" sz="3400" b="1" i="1" dirty="0"/>
          </a:p>
          <a:p>
            <a:pPr algn="just"/>
            <a:endParaRPr lang="es-ES" sz="3400" dirty="0"/>
          </a:p>
          <a:p>
            <a:pPr algn="just"/>
            <a:endParaRPr lang="es-ES" sz="3400" dirty="0" smtClean="0"/>
          </a:p>
          <a:p>
            <a:pPr algn="just"/>
            <a:endParaRPr lang="es-ES" sz="3400" dirty="0"/>
          </a:p>
          <a:p>
            <a:pPr algn="just"/>
            <a:endParaRPr lang="es-ES" sz="3400" dirty="0" smtClean="0"/>
          </a:p>
          <a:p>
            <a:pPr algn="just"/>
            <a:endParaRPr lang="es-ES" sz="3400" dirty="0"/>
          </a:p>
          <a:p>
            <a:pPr algn="just"/>
            <a:endParaRPr lang="es-ES" sz="3400" dirty="0" smtClean="0"/>
          </a:p>
          <a:p>
            <a:pPr algn="just"/>
            <a:endParaRPr lang="es-ES" sz="3400" dirty="0"/>
          </a:p>
        </p:txBody>
      </p:sp>
      <p:sp>
        <p:nvSpPr>
          <p:cNvPr id="28" name="27 CuadroTexto"/>
          <p:cNvSpPr txBox="1"/>
          <p:nvPr/>
        </p:nvSpPr>
        <p:spPr>
          <a:xfrm>
            <a:off x="6157880" y="29918121"/>
            <a:ext cx="62865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smtClean="0"/>
              <a:t>©2025 Blanca Estela Angulo López</a:t>
            </a:r>
          </a:p>
          <a:p>
            <a:pPr algn="ctr"/>
            <a:r>
              <a:rPr lang="es-ES" sz="2000" dirty="0" smtClean="0"/>
              <a:t>Todos los Derechos Reservados</a:t>
            </a:r>
          </a:p>
          <a:p>
            <a:pPr algn="ctr"/>
            <a:r>
              <a:rPr lang="es-ES" sz="2000" dirty="0" smtClean="0"/>
              <a:t>Herramienta de datos Compilatorios</a:t>
            </a:r>
          </a:p>
          <a:p>
            <a:pPr algn="ctr"/>
            <a:r>
              <a:rPr lang="es-ES" sz="2000" dirty="0" smtClean="0"/>
              <a:t>Reg. No. 03-2025-032611401300-01</a:t>
            </a:r>
          </a:p>
          <a:p>
            <a:pPr algn="ctr"/>
            <a:r>
              <a:rPr lang="es-ES" sz="2000" dirty="0" smtClean="0"/>
              <a:t>Autor</a:t>
            </a:r>
            <a:endParaRPr lang="es-ES" sz="2000" dirty="0"/>
          </a:p>
        </p:txBody>
      </p:sp>
      <p:sp>
        <p:nvSpPr>
          <p:cNvPr id="29" name="28 CuadroTexto"/>
          <p:cNvSpPr txBox="1"/>
          <p:nvPr/>
        </p:nvSpPr>
        <p:spPr>
          <a:xfrm>
            <a:off x="728592" y="29918121"/>
            <a:ext cx="60007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/>
              <a:t> </a:t>
            </a:r>
            <a:r>
              <a:rPr lang="es-ES" sz="2000" dirty="0" smtClean="0"/>
              <a:t>Blanca Estela Angulo López</a:t>
            </a:r>
          </a:p>
          <a:p>
            <a:pPr algn="ctr"/>
            <a:r>
              <a:rPr lang="es-ES" sz="2000" dirty="0" smtClean="0"/>
              <a:t>Todos los Derechos Reservados</a:t>
            </a:r>
          </a:p>
          <a:p>
            <a:pPr algn="ctr"/>
            <a:r>
              <a:rPr lang="es-ES" sz="2000" dirty="0" smtClean="0"/>
              <a:t>Herramienta de datos Compilatorios</a:t>
            </a:r>
          </a:p>
          <a:p>
            <a:pPr algn="ctr"/>
            <a:r>
              <a:rPr lang="es-ES" sz="2000" dirty="0" smtClean="0"/>
              <a:t>Registro en autorización </a:t>
            </a:r>
            <a:endParaRPr lang="es-ES" sz="2400" dirty="0"/>
          </a:p>
        </p:txBody>
      </p:sp>
      <p:sp>
        <p:nvSpPr>
          <p:cNvPr id="23" name="22 Rectángulo"/>
          <p:cNvSpPr/>
          <p:nvPr/>
        </p:nvSpPr>
        <p:spPr>
          <a:xfrm>
            <a:off x="12230110" y="31506134"/>
            <a:ext cx="1080135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sz="4400" b="1" i="1" dirty="0" smtClean="0"/>
              <a:t>Correo: </a:t>
            </a:r>
            <a:r>
              <a:rPr lang="es-ES" sz="4000" b="1" i="1" dirty="0" smtClean="0"/>
              <a:t>nicomacoclinica@gmail.com</a:t>
            </a:r>
            <a:endParaRPr lang="es-ES" sz="4400" b="1" i="1" dirty="0" smtClean="0"/>
          </a:p>
        </p:txBody>
      </p:sp>
      <p:sp>
        <p:nvSpPr>
          <p:cNvPr id="24" name="23 Rectángulo"/>
          <p:cNvSpPr/>
          <p:nvPr/>
        </p:nvSpPr>
        <p:spPr>
          <a:xfrm>
            <a:off x="857256" y="31561195"/>
            <a:ext cx="1080135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sz="4000" b="1" i="1" dirty="0" smtClean="0"/>
              <a:t>Área Temática: Psicología de la Salud </a:t>
            </a:r>
            <a:endParaRPr lang="es-ES" sz="4000" dirty="0"/>
          </a:p>
        </p:txBody>
      </p:sp>
      <p:pic>
        <p:nvPicPr>
          <p:cNvPr id="1026" name="Picture 2" descr="❤️ Corazón Rojo Emoji: Significado y Us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278" y="4914821"/>
            <a:ext cx="500066" cy="500066"/>
          </a:xfrm>
          <a:prstGeom prst="rect">
            <a:avLst/>
          </a:prstGeom>
          <a:noFill/>
        </p:spPr>
      </p:pic>
      <p:pic>
        <p:nvPicPr>
          <p:cNvPr id="26" name="Picture 2" descr="❤️ Corazón Rojo Emoji: Significado y Us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278" y="5414887"/>
            <a:ext cx="500066" cy="500066"/>
          </a:xfrm>
          <a:prstGeom prst="rect">
            <a:avLst/>
          </a:prstGeom>
          <a:noFill/>
        </p:spPr>
      </p:pic>
      <p:pic>
        <p:nvPicPr>
          <p:cNvPr id="27" name="Picture 2" descr="❤️ Corazón Rojo Emoji: Significado y Us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29582" y="4914821"/>
            <a:ext cx="500066" cy="500066"/>
          </a:xfrm>
          <a:prstGeom prst="rect">
            <a:avLst/>
          </a:prstGeom>
          <a:noFill/>
        </p:spPr>
      </p:pic>
      <p:pic>
        <p:nvPicPr>
          <p:cNvPr id="30" name="Picture 2" descr="❤️ Corazón Rojo Emoji: Significado y Us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29582" y="5414887"/>
            <a:ext cx="500066" cy="500066"/>
          </a:xfrm>
          <a:prstGeom prst="rect">
            <a:avLst/>
          </a:prstGeom>
          <a:noFill/>
        </p:spPr>
      </p:pic>
      <p:sp>
        <p:nvSpPr>
          <p:cNvPr id="31" name="30 CuadroTexto"/>
          <p:cNvSpPr txBox="1"/>
          <p:nvPr/>
        </p:nvSpPr>
        <p:spPr>
          <a:xfrm rot="19900644">
            <a:off x="706126" y="6778980"/>
            <a:ext cx="41576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/>
              <a:t>Ayer mi corazón ignoraba,</a:t>
            </a:r>
          </a:p>
          <a:p>
            <a:r>
              <a:rPr lang="es-ES" sz="2800" b="1" dirty="0" smtClean="0"/>
              <a:t>lo que Cero Amor, </a:t>
            </a:r>
          </a:p>
          <a:p>
            <a:r>
              <a:rPr lang="es-ES" sz="2800" b="1" dirty="0" smtClean="0"/>
              <a:t>Su luz apagaba.</a:t>
            </a:r>
            <a:endParaRPr lang="es-ES" sz="2800" b="1" dirty="0"/>
          </a:p>
        </p:txBody>
      </p:sp>
      <p:sp>
        <p:nvSpPr>
          <p:cNvPr id="32" name="31 CuadroTexto"/>
          <p:cNvSpPr txBox="1"/>
          <p:nvPr/>
        </p:nvSpPr>
        <p:spPr>
          <a:xfrm rot="19970650">
            <a:off x="9427203" y="8363499"/>
            <a:ext cx="5429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Hoy mi corazón vive y goza, </a:t>
            </a:r>
          </a:p>
          <a:p>
            <a:r>
              <a:rPr lang="es-E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Porque Amor Ágape, </a:t>
            </a:r>
          </a:p>
          <a:p>
            <a:r>
              <a:rPr lang="es-E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Su luz rebosa.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434</Words>
  <Application>Microsoft Office PowerPoint</Application>
  <PresentationFormat>Personalizado</PresentationFormat>
  <Paragraphs>67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ciber</dc:creator>
  <cp:lastModifiedBy>ciber</cp:lastModifiedBy>
  <cp:revision>45</cp:revision>
  <dcterms:created xsi:type="dcterms:W3CDTF">2025-10-01T19:30:18Z</dcterms:created>
  <dcterms:modified xsi:type="dcterms:W3CDTF">2025-11-15T01:13:13Z</dcterms:modified>
</cp:coreProperties>
</file>