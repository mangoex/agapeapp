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AMOR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E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AUTOVIOLENTÓMETRO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Autoconocimiento y Transformación Personal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280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…Sí, la autoviolencia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mide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A0364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30175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A0364B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Horas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A0364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 / Individual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C4D8"/>
                </a:solidFill>
              </a:rPr>
              <a:t>Basado en las herramientas registradas de Blanca Estela Angulo López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D1C4D8"/>
                </a:solidFill>
              </a:rPr>
              <a:t>Reg. No. 03-2025-101713061400-01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 qué trata este curso?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03520" cy="36576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Descubrir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cómo nos ejercemos violencia a nosotros mismos sin darnos cuenta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Medir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Autoviolentómetro CERO AMOR para diagnosticar nuestra situación actual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Transformar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Transitar del CERO AMOR hacia el AMOR ÁGAPE: el amor incondicional a uno mismo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Actuar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herramientas concretas de autocuidado y construcción del amor propio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Curso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D1B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 GENERAL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participantes reconozcan, comprendan y transformen las manifestaciones de autoviolencia en sus vidas, desarrollando herramientas para cultivar el amor propio y el bienestar integral.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manifestaciones de autoviolencia en sus diferentes niveles de intensidad.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320040" cy="32004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414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Autoviolentómetro CERO AMOR como herramienta de autodiagnóstico.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320040" cy="32004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54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083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continuo entre CERO AMOR y AMOR ÁGAPE.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320040" cy="32004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753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estrategias personales de autocuidado y amor propio.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320040" cy="32004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1422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cuándo se necesita apoyo de profesionales de la salud mental.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Temario del Curso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8083A"/>
          </a:solidFill>
          <a:ln w="25400">
            <a:solidFill>
              <a:srgbClr val="A036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69848"/>
            <a:ext cx="502920" cy="50292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Autoviolencia?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8083A"/>
          </a:solidFill>
          <a:ln w="25400">
            <a:solidFill>
              <a:srgbClr val="6B2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69848"/>
            <a:ext cx="502920" cy="502920"/>
          </a:xfrm>
          <a:prstGeom prst="ellipse">
            <a:avLst/>
          </a:prstGeom>
          <a:solidFill>
            <a:srgbClr val="6B2D8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Autoviolentómetro CERO AMOR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377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8083A"/>
          </a:solidFill>
          <a:ln w="25400">
            <a:solidFill>
              <a:srgbClr val="E8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69848"/>
            <a:ext cx="502920" cy="502920"/>
          </a:xfrm>
          <a:prstGeom prst="ellipse">
            <a:avLst/>
          </a:prstGeom>
          <a:solidFill>
            <a:srgbClr val="E8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Autoviolencia Psicológica y Emocional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8083A"/>
          </a:solidFill>
          <a:ln w="25400">
            <a:solidFill>
              <a:srgbClr val="A036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90088"/>
            <a:ext cx="502920" cy="50292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Autoviolencia Física y Sexual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97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8083A"/>
          </a:solidFill>
          <a:ln w="25400">
            <a:solidFill>
              <a:srgbClr val="D4A8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990088"/>
            <a:ext cx="502920" cy="502920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CERO AMOR al AMOR ÁGAPE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297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880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8083A"/>
          </a:solidFill>
          <a:ln w="25400">
            <a:solidFill>
              <a:srgbClr val="2AB8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990088"/>
            <a:ext cx="502920" cy="502920"/>
          </a:xfrm>
          <a:prstGeom prst="ellipse">
            <a:avLst/>
          </a:prstGeom>
          <a:solidFill>
            <a:srgbClr val="2AB89A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Autocuidado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4297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Autoviolencia?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problema es el primer paso hacia la transformación.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 Autoviolencia?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A036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96112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autoviolencia es cualquier acción, pensamiento o comportamiento mediante el cual una persona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causa daño a sí misma, de forma consciente o inconsciente, en los ámbitos físico, emocional, psicológico o sexual."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No siempre es visible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formas de autoviolencia son internas: la autocrítica, el autoengaño, la autolimitación.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Tiene una escalada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3957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 de forma sutil y puede progresar hacia formas más graves si no se interviene a tiempo.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47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Es aprendida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130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frecuencia surge de patrones relacionales aprendidos en la familia o la cultura.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33375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447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Tiene solución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8130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consciencia, herramientas y apoyo, es posible detenerla y reemplazarla por amor propio.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Autoviolencia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6B2D8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68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54864" cy="256032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Autocrítica destructiva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130552"/>
            <a:ext cx="54864" cy="256032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Autoengaño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724912"/>
            <a:ext cx="54864" cy="256032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51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Autolimitación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319272"/>
            <a:ext cx="54864" cy="256032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Autoculpa excesiva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913632"/>
            <a:ext cx="54864" cy="256032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Desvalorización propia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868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A0364B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868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1536192"/>
            <a:ext cx="54864" cy="256032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emociones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2130552"/>
            <a:ext cx="54864" cy="256032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Reprimir sentimientos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2724912"/>
            <a:ext cx="54864" cy="256032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2651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Humillarse ante otros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19272"/>
            <a:ext cx="54864" cy="256032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Intimidarse a sí mismo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3913632"/>
            <a:ext cx="54864" cy="256032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Ridiculizarse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868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8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868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536192"/>
            <a:ext cx="54864" cy="256032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Golpearse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130552"/>
            <a:ext cx="54864" cy="256032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Arañarse / pellizcarse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724912"/>
            <a:ext cx="54864" cy="256032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651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respetar el cuerpo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319272"/>
            <a:ext cx="54864" cy="256032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 artículos propios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913632"/>
            <a:ext cx="54864" cy="256032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Cachetear / patear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20840" y="868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868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12280" y="1536192"/>
            <a:ext cx="54864" cy="2560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Sumisión sexual forzada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12280" y="2130552"/>
            <a:ext cx="54864" cy="2560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agresión sexual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12280" y="2724912"/>
            <a:ext cx="54864" cy="2560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2651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sexuales no deseadas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12280" y="3319272"/>
            <a:ext cx="54864" cy="2560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de riesgo sexual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Escalada de la Autoviolencia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detecta y atiende, la autoviolencia tiende a escalar en intensidad y frecuencia.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384048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000000"/>
          </a:solidFill>
          <a:ln w="19050">
            <a:solidFill>
              <a:srgbClr val="2AB8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886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/ INICIO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224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Pensamientos autocríticos ocasionales. La persona los nota pero no les da importancia.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920240" y="3017520"/>
            <a:ext cx="1371600" cy="18288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D4A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063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65960" y="340156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autocrítica y autoengaño más frecuentes. Comienza el autoaislamiento.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1371600" cy="256032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0440" y="2670048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Autoviolencia física leve. Destrucción de objetos. Humillación pública de sí mismo.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1371600" cy="338328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E8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4920" y="1847088"/>
            <a:ext cx="1280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Autolesiones físicas. Cutting. Amenazas de hacerse daño. Requiere atención profesional urgente.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83680" y="822960"/>
            <a:ext cx="2194560" cy="4023360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9050">
            <a:solidFill>
              <a:srgbClr val="A036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29400" y="1207008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Mutilación. Riesgo suicida. Requiere intervención de emergencia inmediata.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6B2D8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Autoviolentómetro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AMOR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…Sí, la autoviolencia también se mide.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Autoviolentómetro CERO AMOR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2D1B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4124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herramienta de autoevaluación diagnóstica que permite identificar, cuantificar y tomar conciencia de las formas en que una persona se ejerce violencia a sí misma.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MEDICIÓN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411480" cy="411480"/>
          </a:xfrm>
          <a:prstGeom prst="ellipse">
            <a:avLst/>
          </a:prstGeom>
          <a:solidFill>
            <a:srgbClr val="2AB89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1143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344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hago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1655064"/>
            <a:ext cx="411480" cy="411480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655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6550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8562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167128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1671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3682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2679192"/>
            <a:ext cx="411480" cy="411480"/>
          </a:xfrm>
          <a:prstGeom prst="ellipse">
            <a:avLst/>
          </a:prstGeom>
          <a:solidFill>
            <a:srgbClr val="E8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679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6791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880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frecuencia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1762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 cada manifestación de autoviolencia con honestidad.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6700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Asigna un valor del 0 al 3 según tu frecuencia real.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1638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Suma tus puntajes al final de cada sección.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Identifica en qué zona te encuentras y qué tipo de apoyo necesitas.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Recuerda: no hay respuestas correctas o incorrectas. Es un diagnóstico personal.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5029200" cy="365760"/>
          </a:xfrm>
          <a:prstGeom prst="roundRect">
            <a:avLst>
              <a:gd name="adj" fmla="val 15000"/>
            </a:avLst>
          </a:prstGeom>
          <a:solidFill>
            <a:srgbClr val="DFBFC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9028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Este instrumento es de apoyo. No sustituye la evaluación de un profesional de salud mental.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Autoviolentómetro — Área Psicológica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572000" cy="50292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Manifestación de Autoviolencia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5192" y="777240"/>
            <a:ext cx="914400" cy="502920"/>
          </a:xfrm>
          <a:prstGeom prst="rect">
            <a:avLst/>
          </a:prstGeom>
          <a:solidFill>
            <a:srgbClr val="2AB89A"/>
          </a:solidFill>
          <a:ln/>
        </p:spPr>
      </p:sp>
      <p:sp>
        <p:nvSpPr>
          <p:cNvPr id="6" name="Text 4"/>
          <p:cNvSpPr/>
          <p:nvPr/>
        </p:nvSpPr>
        <p:spPr>
          <a:xfrm>
            <a:off x="4965192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07024" y="777240"/>
            <a:ext cx="914400" cy="502920"/>
          </a:xfrm>
          <a:prstGeom prst="rect">
            <a:avLst/>
          </a:prstGeom>
          <a:solidFill>
            <a:srgbClr val="D4A82A"/>
          </a:solidFill>
          <a:ln/>
        </p:spPr>
      </p:sp>
      <p:sp>
        <p:nvSpPr>
          <p:cNvPr id="8" name="Text 6"/>
          <p:cNvSpPr/>
          <p:nvPr/>
        </p:nvSpPr>
        <p:spPr>
          <a:xfrm>
            <a:off x="5907024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48856" y="777240"/>
            <a:ext cx="105156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848856" y="777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27848" y="777240"/>
            <a:ext cx="914400" cy="502920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4572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34416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hiero / me critico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5192" y="132588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138074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5907024" y="132588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8074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1325880"/>
            <a:ext cx="1051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4908" y="138074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0416" y="132588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138074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1673352"/>
            <a:ext cx="4572000" cy="329184"/>
          </a:xfrm>
          <a:prstGeom prst="rect">
            <a:avLst/>
          </a:prstGeom>
          <a:solidFill>
            <a:srgbClr val="F0EB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9164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presiono / coacciono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65192" y="1673352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12664" y="172821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7" name="Shape 25"/>
          <p:cNvSpPr/>
          <p:nvPr/>
        </p:nvSpPr>
        <p:spPr>
          <a:xfrm>
            <a:off x="5907024" y="1673352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172821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6848856" y="1673352"/>
            <a:ext cx="105156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4908" y="172821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1" name="Shape 29"/>
          <p:cNvSpPr/>
          <p:nvPr/>
        </p:nvSpPr>
        <p:spPr>
          <a:xfrm>
            <a:off x="7900416" y="1673352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7888" y="172821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2020824"/>
            <a:ext cx="4572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039112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miento / engaño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65192" y="202082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12664" y="207568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7" name="Shape 35"/>
          <p:cNvSpPr/>
          <p:nvPr/>
        </p:nvSpPr>
        <p:spPr>
          <a:xfrm>
            <a:off x="5907024" y="202082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207568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48856" y="2020824"/>
            <a:ext cx="1051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4908" y="207568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1" name="Shape 39"/>
          <p:cNvSpPr/>
          <p:nvPr/>
        </p:nvSpPr>
        <p:spPr>
          <a:xfrm>
            <a:off x="7900416" y="202082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7888" y="207568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2368296"/>
            <a:ext cx="4572000" cy="329184"/>
          </a:xfrm>
          <a:prstGeom prst="rect">
            <a:avLst/>
          </a:prstGeom>
          <a:solidFill>
            <a:srgbClr val="F0EBF7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2386584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ignoro / lo callo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65192" y="2368296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12664" y="242316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7" name="Shape 45"/>
          <p:cNvSpPr/>
          <p:nvPr/>
        </p:nvSpPr>
        <p:spPr>
          <a:xfrm>
            <a:off x="5907024" y="2368296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42316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6848856" y="2368296"/>
            <a:ext cx="105156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64908" y="242316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1" name="Shape 49"/>
          <p:cNvSpPr/>
          <p:nvPr/>
        </p:nvSpPr>
        <p:spPr>
          <a:xfrm>
            <a:off x="7900416" y="2368296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42316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2715768"/>
            <a:ext cx="4572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734056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Desconfiado / inseguro de mí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65192" y="2715768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12664" y="277063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7" name="Shape 55"/>
          <p:cNvSpPr/>
          <p:nvPr/>
        </p:nvSpPr>
        <p:spPr>
          <a:xfrm>
            <a:off x="5907024" y="2715768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54496" y="277063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9" name="Shape 57"/>
          <p:cNvSpPr/>
          <p:nvPr/>
        </p:nvSpPr>
        <p:spPr>
          <a:xfrm>
            <a:off x="6848856" y="2715768"/>
            <a:ext cx="1051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64908" y="277063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1" name="Shape 59"/>
          <p:cNvSpPr/>
          <p:nvPr/>
        </p:nvSpPr>
        <p:spPr>
          <a:xfrm>
            <a:off x="7900416" y="2715768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47888" y="277063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3" name="Shape 61"/>
          <p:cNvSpPr/>
          <p:nvPr/>
        </p:nvSpPr>
        <p:spPr>
          <a:xfrm>
            <a:off x="365760" y="3063240"/>
            <a:ext cx="4572000" cy="329184"/>
          </a:xfrm>
          <a:prstGeom prst="rect">
            <a:avLst/>
          </a:prstGeom>
          <a:solidFill>
            <a:srgbClr val="F0EBF7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308152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culpabilizo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65192" y="3063240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12664" y="311810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7" name="Shape 65"/>
          <p:cNvSpPr/>
          <p:nvPr/>
        </p:nvSpPr>
        <p:spPr>
          <a:xfrm>
            <a:off x="5907024" y="3063240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54496" y="311810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9" name="Shape 67"/>
          <p:cNvSpPr/>
          <p:nvPr/>
        </p:nvSpPr>
        <p:spPr>
          <a:xfrm>
            <a:off x="6848856" y="3063240"/>
            <a:ext cx="105156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4908" y="311810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1" name="Shape 69"/>
          <p:cNvSpPr/>
          <p:nvPr/>
        </p:nvSpPr>
        <p:spPr>
          <a:xfrm>
            <a:off x="7900416" y="3063240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47888" y="311810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3" name="Shape 71"/>
          <p:cNvSpPr/>
          <p:nvPr/>
        </p:nvSpPr>
        <p:spPr>
          <a:xfrm>
            <a:off x="365760" y="3410712"/>
            <a:ext cx="4572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342900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descalifico / desvalorizo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965192" y="341071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12664" y="346557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7" name="Shape 75"/>
          <p:cNvSpPr/>
          <p:nvPr/>
        </p:nvSpPr>
        <p:spPr>
          <a:xfrm>
            <a:off x="5907024" y="341071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54496" y="346557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9" name="Shape 77"/>
          <p:cNvSpPr/>
          <p:nvPr/>
        </p:nvSpPr>
        <p:spPr>
          <a:xfrm>
            <a:off x="6848856" y="3410712"/>
            <a:ext cx="1051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64908" y="346557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1" name="Shape 79"/>
          <p:cNvSpPr/>
          <p:nvPr/>
        </p:nvSpPr>
        <p:spPr>
          <a:xfrm>
            <a:off x="7900416" y="341071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47888" y="3465576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3" name="Shape 81"/>
          <p:cNvSpPr/>
          <p:nvPr/>
        </p:nvSpPr>
        <p:spPr>
          <a:xfrm>
            <a:off x="365760" y="3758184"/>
            <a:ext cx="4572000" cy="329184"/>
          </a:xfrm>
          <a:prstGeom prst="rect">
            <a:avLst/>
          </a:prstGeom>
          <a:solidFill>
            <a:srgbClr val="F0EBF7"/>
          </a:solidFill>
          <a:ln/>
        </p:spPr>
      </p:sp>
      <p:sp>
        <p:nvSpPr>
          <p:cNvPr id="84" name="Text 82"/>
          <p:cNvSpPr/>
          <p:nvPr/>
        </p:nvSpPr>
        <p:spPr>
          <a:xfrm>
            <a:off x="457200" y="3776472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ofendo / ridiculizo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965192" y="3758184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12664" y="381304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7" name="Shape 85"/>
          <p:cNvSpPr/>
          <p:nvPr/>
        </p:nvSpPr>
        <p:spPr>
          <a:xfrm>
            <a:off x="5907024" y="3758184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54496" y="381304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9" name="Shape 87"/>
          <p:cNvSpPr/>
          <p:nvPr/>
        </p:nvSpPr>
        <p:spPr>
          <a:xfrm>
            <a:off x="6848856" y="3758184"/>
            <a:ext cx="105156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264908" y="381304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1" name="Shape 89"/>
          <p:cNvSpPr/>
          <p:nvPr/>
        </p:nvSpPr>
        <p:spPr>
          <a:xfrm>
            <a:off x="7900416" y="3758184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47888" y="3813048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3" name="Shape 91"/>
          <p:cNvSpPr/>
          <p:nvPr/>
        </p:nvSpPr>
        <p:spPr>
          <a:xfrm>
            <a:off x="365760" y="4105656"/>
            <a:ext cx="4572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457200" y="4123944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humillo ante otros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965192" y="4105656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12664" y="416052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7" name="Shape 95"/>
          <p:cNvSpPr/>
          <p:nvPr/>
        </p:nvSpPr>
        <p:spPr>
          <a:xfrm>
            <a:off x="5907024" y="4105656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54496" y="416052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9" name="Shape 97"/>
          <p:cNvSpPr/>
          <p:nvPr/>
        </p:nvSpPr>
        <p:spPr>
          <a:xfrm>
            <a:off x="6848856" y="4105656"/>
            <a:ext cx="1051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64908" y="416052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00416" y="4105656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47888" y="4160520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65760" y="4453128"/>
            <a:ext cx="4572000" cy="329184"/>
          </a:xfrm>
          <a:prstGeom prst="rect">
            <a:avLst/>
          </a:prstGeom>
          <a:solidFill>
            <a:srgbClr val="F0EBF7"/>
          </a:solidFill>
          <a:ln/>
        </p:spPr>
      </p:sp>
      <p:sp>
        <p:nvSpPr>
          <p:cNvPr id="104" name="Text 102"/>
          <p:cNvSpPr/>
          <p:nvPr/>
        </p:nvSpPr>
        <p:spPr>
          <a:xfrm>
            <a:off x="457200" y="4471416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intimido / asusto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965192" y="4453128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312664" y="450799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907024" y="4453128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54496" y="450799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848856" y="4453128"/>
            <a:ext cx="105156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64908" y="450799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900416" y="4453128"/>
            <a:ext cx="914400" cy="329184"/>
          </a:xfrm>
          <a:prstGeom prst="rect">
            <a:avLst/>
          </a:prstGeom>
          <a:solidFill>
            <a:srgbClr val="F0EBF7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47888" y="4507992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65760" y="4800600"/>
            <a:ext cx="4572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457200" y="481888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prohíbo / limito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965192" y="480060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12664" y="485546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907024" y="480060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254496" y="485546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848856" y="4800600"/>
            <a:ext cx="1051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264908" y="485546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900416" y="4800600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47888" y="4855464"/>
            <a:ext cx="219456" cy="219456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Autoviolentómetro — Área Física y Sexual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572000" cy="50292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Manifestación de Autoviolencia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5192" y="777240"/>
            <a:ext cx="914400" cy="502920"/>
          </a:xfrm>
          <a:prstGeom prst="rect">
            <a:avLst/>
          </a:prstGeom>
          <a:solidFill>
            <a:srgbClr val="2AB89A"/>
          </a:solidFill>
          <a:ln/>
        </p:spPr>
      </p:sp>
      <p:sp>
        <p:nvSpPr>
          <p:cNvPr id="6" name="Text 4"/>
          <p:cNvSpPr/>
          <p:nvPr/>
        </p:nvSpPr>
        <p:spPr>
          <a:xfrm>
            <a:off x="4965192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07024" y="777240"/>
            <a:ext cx="914400" cy="502920"/>
          </a:xfrm>
          <a:prstGeom prst="rect">
            <a:avLst/>
          </a:prstGeom>
          <a:solidFill>
            <a:srgbClr val="D4A82A"/>
          </a:solidFill>
          <a:ln/>
        </p:spPr>
      </p:sp>
      <p:sp>
        <p:nvSpPr>
          <p:cNvPr id="8" name="Text 6"/>
          <p:cNvSpPr/>
          <p:nvPr/>
        </p:nvSpPr>
        <p:spPr>
          <a:xfrm>
            <a:off x="5907024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48856" y="777240"/>
            <a:ext cx="105156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848856" y="777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27848" y="777240"/>
            <a:ext cx="914400" cy="502920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3441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Destruyo mis artículos personales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5192" y="132588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0096" y="135331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5907024" y="132588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135331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1325880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2340" y="135331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0416" y="132588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135331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1563624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581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respeto mi cuerpo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65192" y="1563624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0096" y="159105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7" name="Shape 25"/>
          <p:cNvSpPr/>
          <p:nvPr/>
        </p:nvSpPr>
        <p:spPr>
          <a:xfrm>
            <a:off x="5907024" y="1563624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159105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6848856" y="1563624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2340" y="159105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1" name="Shape 29"/>
          <p:cNvSpPr/>
          <p:nvPr/>
        </p:nvSpPr>
        <p:spPr>
          <a:xfrm>
            <a:off x="7900416" y="1563624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159105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1801368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181965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acaricio agresivamente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65192" y="180136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0096" y="182880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7" name="Shape 35"/>
          <p:cNvSpPr/>
          <p:nvPr/>
        </p:nvSpPr>
        <p:spPr>
          <a:xfrm>
            <a:off x="5907024" y="180136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81928" y="182880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48856" y="1801368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92340" y="182880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1" name="Shape 39"/>
          <p:cNvSpPr/>
          <p:nvPr/>
        </p:nvSpPr>
        <p:spPr>
          <a:xfrm>
            <a:off x="7900416" y="180136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182880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2039112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20574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golpeo 'jugando'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65192" y="2039112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40096" y="206654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7" name="Shape 45"/>
          <p:cNvSpPr/>
          <p:nvPr/>
        </p:nvSpPr>
        <p:spPr>
          <a:xfrm>
            <a:off x="5907024" y="2039112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81928" y="206654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6848856" y="2039112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92340" y="206654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1" name="Shape 49"/>
          <p:cNvSpPr/>
          <p:nvPr/>
        </p:nvSpPr>
        <p:spPr>
          <a:xfrm>
            <a:off x="7900416" y="2039112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5320" y="206654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2276856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29514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araño / pellizco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965192" y="227685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0096" y="230428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7" name="Shape 55"/>
          <p:cNvSpPr/>
          <p:nvPr/>
        </p:nvSpPr>
        <p:spPr>
          <a:xfrm>
            <a:off x="5907024" y="227685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81928" y="230428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59" name="Shape 57"/>
          <p:cNvSpPr/>
          <p:nvPr/>
        </p:nvSpPr>
        <p:spPr>
          <a:xfrm>
            <a:off x="6848856" y="2276856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2340" y="230428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1" name="Shape 59"/>
          <p:cNvSpPr/>
          <p:nvPr/>
        </p:nvSpPr>
        <p:spPr>
          <a:xfrm>
            <a:off x="7900416" y="227685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0" y="230428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3" name="Shape 61"/>
          <p:cNvSpPr/>
          <p:nvPr/>
        </p:nvSpPr>
        <p:spPr>
          <a:xfrm>
            <a:off x="365760" y="2514600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25328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jaloneo / me arrojo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965192" y="2514600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254203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7" name="Shape 65"/>
          <p:cNvSpPr/>
          <p:nvPr/>
        </p:nvSpPr>
        <p:spPr>
          <a:xfrm>
            <a:off x="5907024" y="2514600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81928" y="254203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69" name="Shape 67"/>
          <p:cNvSpPr/>
          <p:nvPr/>
        </p:nvSpPr>
        <p:spPr>
          <a:xfrm>
            <a:off x="6848856" y="2514600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2340" y="254203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1" name="Shape 69"/>
          <p:cNvSpPr/>
          <p:nvPr/>
        </p:nvSpPr>
        <p:spPr>
          <a:xfrm>
            <a:off x="7900416" y="2514600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75320" y="254203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3" name="Shape 71"/>
          <p:cNvSpPr/>
          <p:nvPr/>
        </p:nvSpPr>
        <p:spPr>
          <a:xfrm>
            <a:off x="365760" y="2752344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27706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cacheteo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965192" y="2752344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40096" y="277977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7" name="Shape 75"/>
          <p:cNvSpPr/>
          <p:nvPr/>
        </p:nvSpPr>
        <p:spPr>
          <a:xfrm>
            <a:off x="5907024" y="2752344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81928" y="277977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9" name="Shape 77"/>
          <p:cNvSpPr/>
          <p:nvPr/>
        </p:nvSpPr>
        <p:spPr>
          <a:xfrm>
            <a:off x="6848856" y="2752344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92340" y="277977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1" name="Shape 79"/>
          <p:cNvSpPr/>
          <p:nvPr/>
        </p:nvSpPr>
        <p:spPr>
          <a:xfrm>
            <a:off x="7900416" y="2752344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75320" y="277977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3" name="Shape 81"/>
          <p:cNvSpPr/>
          <p:nvPr/>
        </p:nvSpPr>
        <p:spPr>
          <a:xfrm>
            <a:off x="365760" y="2990088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84" name="Text 82"/>
          <p:cNvSpPr/>
          <p:nvPr/>
        </p:nvSpPr>
        <p:spPr>
          <a:xfrm>
            <a:off x="457200" y="300837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pateo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965192" y="2990088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40096" y="301752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7" name="Shape 85"/>
          <p:cNvSpPr/>
          <p:nvPr/>
        </p:nvSpPr>
        <p:spPr>
          <a:xfrm>
            <a:off x="5907024" y="2990088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81928" y="301752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9" name="Shape 87"/>
          <p:cNvSpPr/>
          <p:nvPr/>
        </p:nvSpPr>
        <p:spPr>
          <a:xfrm>
            <a:off x="6848856" y="2990088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292340" y="301752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1" name="Shape 89"/>
          <p:cNvSpPr/>
          <p:nvPr/>
        </p:nvSpPr>
        <p:spPr>
          <a:xfrm>
            <a:off x="7900416" y="2990088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75320" y="301752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3" name="Shape 91"/>
          <p:cNvSpPr/>
          <p:nvPr/>
        </p:nvSpPr>
        <p:spPr>
          <a:xfrm>
            <a:off x="365760" y="3227832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457200" y="32461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aíslo / encierro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965192" y="3227832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40096" y="325526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7" name="Shape 95"/>
          <p:cNvSpPr/>
          <p:nvPr/>
        </p:nvSpPr>
        <p:spPr>
          <a:xfrm>
            <a:off x="5907024" y="3227832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81928" y="325526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9" name="Shape 97"/>
          <p:cNvSpPr/>
          <p:nvPr/>
        </p:nvSpPr>
        <p:spPr>
          <a:xfrm>
            <a:off x="6848856" y="3227832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92340" y="325526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00416" y="3227832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75320" y="325526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65760" y="3465576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104" name="Text 102"/>
          <p:cNvSpPr/>
          <p:nvPr/>
        </p:nvSpPr>
        <p:spPr>
          <a:xfrm>
            <a:off x="457200" y="34838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 dañarme con objetos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965192" y="3465576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340096" y="349300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907024" y="3465576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81928" y="349300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848856" y="3465576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92340" y="349300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900416" y="3465576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75320" y="349300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65760" y="3703320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457200" y="37216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amenazo con matarme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965192" y="370332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0096" y="373075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907024" y="370332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281928" y="373075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848856" y="3703320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292340" y="373075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900416" y="370332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275320" y="373075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65760" y="3941064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124" name="Text 122"/>
          <p:cNvSpPr/>
          <p:nvPr/>
        </p:nvSpPr>
        <p:spPr>
          <a:xfrm>
            <a:off x="457200" y="39593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Sumiso/a sexual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4965192" y="3941064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340096" y="396849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27" name="Shape 125"/>
          <p:cNvSpPr/>
          <p:nvPr/>
        </p:nvSpPr>
        <p:spPr>
          <a:xfrm>
            <a:off x="5907024" y="3941064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281928" y="396849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848856" y="3941064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92340" y="396849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900416" y="3941064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75320" y="3968496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65760" y="4178808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2"/>
          <p:cNvSpPr/>
          <p:nvPr/>
        </p:nvSpPr>
        <p:spPr>
          <a:xfrm>
            <a:off x="457200" y="41970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auto agredo sexualmente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4965192" y="417880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340096" y="420624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37" name="Shape 135"/>
          <p:cNvSpPr/>
          <p:nvPr/>
        </p:nvSpPr>
        <p:spPr>
          <a:xfrm>
            <a:off x="5907024" y="417880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281928" y="420624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48856" y="4178808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292340" y="420624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41" name="Shape 139"/>
          <p:cNvSpPr/>
          <p:nvPr/>
        </p:nvSpPr>
        <p:spPr>
          <a:xfrm>
            <a:off x="7900416" y="417880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275320" y="4206240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43" name="Shape 141"/>
          <p:cNvSpPr/>
          <p:nvPr/>
        </p:nvSpPr>
        <p:spPr>
          <a:xfrm>
            <a:off x="365760" y="4416552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144" name="Text 142"/>
          <p:cNvSpPr/>
          <p:nvPr/>
        </p:nvSpPr>
        <p:spPr>
          <a:xfrm>
            <a:off x="457200" y="44348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corto (cutting)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4965192" y="4416552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40096" y="444398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907024" y="4416552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281928" y="444398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848856" y="4416552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292340" y="444398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900416" y="4416552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275320" y="4443984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65760" y="4654296"/>
            <a:ext cx="4572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4" name="Text 152"/>
          <p:cNvSpPr/>
          <p:nvPr/>
        </p:nvSpPr>
        <p:spPr>
          <a:xfrm>
            <a:off x="457200" y="4672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mutilo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4965192" y="465429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340096" y="468172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907024" y="465429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81928" y="468172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848856" y="4654296"/>
            <a:ext cx="10515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292340" y="468172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900416" y="465429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275320" y="4681728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63" name="Shape 161"/>
          <p:cNvSpPr/>
          <p:nvPr/>
        </p:nvSpPr>
        <p:spPr>
          <a:xfrm>
            <a:off x="365760" y="4892040"/>
            <a:ext cx="4572000" cy="219456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164" name="Text 162"/>
          <p:cNvSpPr/>
          <p:nvPr/>
        </p:nvSpPr>
        <p:spPr>
          <a:xfrm>
            <a:off x="457200" y="49103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suicido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4965192" y="4892040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340096" y="491947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907024" y="4892040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281928" y="491947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848856" y="4892040"/>
            <a:ext cx="105156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292340" y="491947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7900416" y="4892040"/>
            <a:ext cx="914400" cy="219456"/>
          </a:xfrm>
          <a:prstGeom prst="rect">
            <a:avLst/>
          </a:prstGeom>
          <a:solidFill>
            <a:srgbClr val="FFE8E8"/>
          </a:solidFill>
          <a:ln w="6350">
            <a:solidFill>
              <a:srgbClr val="D1C4D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275320" y="4919472"/>
            <a:ext cx="164592" cy="16459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73" name="Text 17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Interpretación de Resultados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" cy="914400"/>
          </a:xfrm>
          <a:prstGeom prst="rect">
            <a:avLst/>
          </a:prstGeom>
          <a:solidFill>
            <a:srgbClr val="2AB8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686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AB8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ZONA VERDE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 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"¡Date cuenta y modera!"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 formas leves de autoviolencia. Es el momento ideal para desarrollar consciencia y hábitos de amor propio antes de que escalen.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37160" cy="914400"/>
          </a:xfrm>
          <a:prstGeom prst="rect">
            <a:avLst/>
          </a:prstGeom>
          <a:solidFill>
            <a:srgbClr val="D4A82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202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ZONA AMARILLA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25 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"¡Reflexiona y reacciona!"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3774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autoviolencia ya tiene presencia moderada en tu vida. Necesitas trabajar activamente en herramientas de autocuidado y considerar orientación psicológica.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37160" cy="914400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718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ZONA ROJA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– 40 pts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"¡No te autodestruyas!"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429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autoviolencia es intensa y frecuente. Es urgente buscar apoyo profesional. No estás solo/a; hay ayuda disponible.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137160" cy="914400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0233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ZONA CRÍTICA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pts o más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"¡Necesitas ayuda profesional ya!"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4805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riesgo real para tu vida e integridad. Acude de inmediato a un servicio de salud mental o llama a una línea de crisis.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Autoviolencia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Psicológica y Emocional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decimos también duele.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Voz Interna que Nos Daña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E8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E86B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Autocrítica Destructiva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hago nada bien"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"Soy un fracaso"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merezco estar aquí"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7121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es mi culpa"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"Nadie me quiere realmente"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8862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16966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Erosiona la autoestima, genera ansiedad, depresión y parálisis.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82296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6B2D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82296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6B2D8B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841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Autoengaño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4447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"Estoy bien, no es para tanto"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9202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"Puedo controlarlo solo"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3957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 no me pasa a mí"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87121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 se me pasará"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3467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necesito ayuda"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8862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16966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tomar acción, mantiene los patrones de autoviolencia ocultos.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6B2D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 1 — Mi Diálogo Interno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Cierra los ojos y recuerda una situación reciente en la que te sientas frustrado/a contigo mismo/a.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733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Escribe exactamente qué palabras usaste para hablarte a ti mismo/a en ese momento.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1122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Ahora imagina que alguien que amas te dice esas mismas palabras. ¿Cómo te sentirías?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55117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Reescribe ese mensaje usando un lenguaje compasivo y respetuoso.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 dije: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1927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21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 sentí?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99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diría con amor propio: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36008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Tiempo: 10 minutos individuales + 10 minutos de compartir en parejas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A036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Autoviolencia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Física y Sexual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también lleva las marcas de lo que callamos.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Señales de Alarma — ¿Cuándo Buscar Ayuda?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051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🔪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Pensamientos recurrentes de hacerte daño o quitarte la vida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051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94960" y="9601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de cutting, quemaduras u otras autolesiones físicas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57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Incapacidad de reconocer o expresar emociones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057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social progresivo y prolongado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63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de sustancias como forma de escape del malestar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063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29718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significativa del funcionamiento en el trabajo, escuela o relaciones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39776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autoviolencia que se repiten a pesar de querer cambiarlos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DADE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39776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Incapacidad de pedir ayuda o creer que mereces apoyo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A0364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identificas con 3 o más señales: busca apoyo profesional ahora. No esperes.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CERO AMOR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AMOR ÁGAPE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…Sí, el amor también se trabaja.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CERO AMOR al AMOR ÁGAPE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3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AMOR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841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 ÁGAPE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critico y me juzgo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07408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acepto con compasión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ignoro y me callo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07408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escucho y me expreso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41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culpabilizo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0740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41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responsabilizo con amor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humillo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07408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443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honro y me respeto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47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prohíbo vivir plenamente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447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permito florecer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auto destruyo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07408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cuido y me nutro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D2D7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53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creo merecer amor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07408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A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54880" y="43891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6EDCC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453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que soy digno/a de amor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Camino de Transformación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" cy="1143000"/>
          </a:xfrm>
          <a:prstGeom prst="ellipse">
            <a:avLst/>
          </a:prstGeom>
          <a:solidFill>
            <a:srgbClr val="E86B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542032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00000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33472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mis patrones de autoviolencia sin juicio.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481328"/>
            <a:ext cx="274320" cy="0"/>
          </a:xfrm>
          <a:prstGeom prst="line">
            <a:avLst/>
          </a:prstGeom>
          <a:noFill/>
          <a:ln w="25400">
            <a:solidFill>
              <a:srgbClr val="E8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914400"/>
            <a:ext cx="1143000" cy="1143000"/>
          </a:xfrm>
          <a:prstGeom prst="ellipse">
            <a:avLst/>
          </a:prstGeom>
          <a:solidFill>
            <a:srgbClr val="A0364B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005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2542032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00000"/>
          </a:solidFill>
          <a:ln w="12700">
            <a:solidFill>
              <a:srgbClr val="A036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2633472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Permitirme sentir el dolor sin huir de él.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0" y="1481328"/>
            <a:ext cx="274320" cy="0"/>
          </a:xfrm>
          <a:prstGeom prst="line">
            <a:avLst/>
          </a:prstGeom>
          <a:noFill/>
          <a:ln w="25400">
            <a:solidFill>
              <a:srgbClr val="A036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14400"/>
            <a:ext cx="1143000" cy="1143000"/>
          </a:xfrm>
          <a:prstGeom prst="ellipse">
            <a:avLst/>
          </a:prstGeom>
          <a:solidFill>
            <a:srgbClr val="6B2D8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005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10896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542032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00000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633472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de dónde vienen estos patrones.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1481328"/>
            <a:ext cx="274320" cy="0"/>
          </a:xfrm>
          <a:prstGeom prst="line">
            <a:avLst/>
          </a:prstGeom>
          <a:noFill/>
          <a:ln w="25400">
            <a:solidFill>
              <a:srgbClr val="6B2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914400"/>
            <a:ext cx="1143000" cy="1143000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005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2628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2542032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00000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633472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 decisión consciente de cambiar.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60720" y="1481328"/>
            <a:ext cx="274320" cy="0"/>
          </a:xfrm>
          <a:prstGeom prst="line">
            <a:avLst/>
          </a:prstGeom>
          <a:noFill/>
          <a:ln w="25400">
            <a:solidFill>
              <a:srgbClr val="D4A8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914400"/>
            <a:ext cx="1143000" cy="1143000"/>
          </a:xfrm>
          <a:prstGeom prst="ellipse">
            <a:avLst/>
          </a:prstGeom>
          <a:solidFill>
            <a:srgbClr val="2AB89A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1005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94360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2542032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00000"/>
          </a:solidFill>
          <a:ln w="12700">
            <a:solidFill>
              <a:srgbClr val="2AB8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633472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nuevas herramientas de amor propio.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78040" y="1481328"/>
            <a:ext cx="274320" cy="0"/>
          </a:xfrm>
          <a:prstGeom prst="line">
            <a:avLst/>
          </a:prstGeom>
          <a:noFill/>
          <a:ln w="25400">
            <a:solidFill>
              <a:srgbClr val="2AB8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914400"/>
            <a:ext cx="1143000" cy="11430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1005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36092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60920" y="2542032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0000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633472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cambio con red de apoyo y práctica constante.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un proceso no lineal. Habrá avances y retrocesos. Lo importante es seguir.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AMOR ÁGAPE es el destino — el amor incondicional a uno mismo.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AB8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Autocuidado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amor propio es un acto diario y deliberado.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Caja de Herramientas de Amor Propio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6B2D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 Autoobservación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diariamente 3 cosas que hiciste bien, una emoción que sentiste y cómo te trataste.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AB8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de Compasión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al día de respiración consciente y una afirmación positiva hacia ti mismo/a.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8686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Interno Consciente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te critiques, pregunta: ¿Lo diría a alguien que quiero? Si no, cámbialo.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A03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Apoyo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3 personas de confianza con quienes puedas hablar cuando la autoviolencia aparezca.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8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de Autocuidado Físico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Movimiento, alimentación consciente, descanso. El cuerpo es también parte del amor propio.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27889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Saludables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decir NO sin culpa es una forma profunda de amor propio.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2AB8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 FINAL — Mi Plan Personal de Amor Propio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EAD2D7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cosa que voy a dejar de decirme a mí mismo/a: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8046720" cy="0"/>
          </a:xfrm>
          <a:prstGeom prst="line">
            <a:avLst/>
          </a:prstGeom>
          <a:noFill/>
          <a:ln w="6350">
            <a:solidFill>
              <a:srgbClr val="D1C4D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6EDCC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cosa que voy a empezar a decirme: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0"/>
          </a:xfrm>
          <a:prstGeom prst="line">
            <a:avLst/>
          </a:prstGeom>
          <a:noFill/>
          <a:ln w="6350">
            <a:solidFill>
              <a:srgbClr val="D1C4D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4505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D4F0E8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963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concreta de autocuidado que haré esta semana: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44952"/>
            <a:ext cx="8046720" cy="0"/>
          </a:xfrm>
          <a:prstGeom prst="line">
            <a:avLst/>
          </a:prstGeom>
          <a:noFill/>
          <a:ln w="6350">
            <a:solidFill>
              <a:srgbClr val="D1C4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" y="3255264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E2D6EC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0098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a quien pediré apoyo si lo necesito: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8046720" cy="0"/>
          </a:xfrm>
          <a:prstGeom prst="line">
            <a:avLst/>
          </a:prstGeom>
          <a:noFill/>
          <a:ln w="6350">
            <a:solidFill>
              <a:srgbClr val="D1C4D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4059936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E1EFFD"/>
          </a:solidFill>
          <a:ln w="12700">
            <a:solidFill>
              <a:srgbClr val="D1C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056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afirmación personal de amor propio: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654296"/>
            <a:ext cx="8046720" cy="0"/>
          </a:xfrm>
          <a:prstGeom prst="line">
            <a:avLst/>
          </a:prstGeom>
          <a:noFill/>
          <a:ln w="6350">
            <a:solidFill>
              <a:srgbClr val="D1C4D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de Apoyo Profesional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6B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6B2D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Línea de Crisis (México)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SAPTEL: 55 5259-8121 (24 hrs)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CONSAME: 800 290-0024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la Vida: 800 911-2000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6B2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8686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6B2D8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Centros de Atención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3560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 — Clínica de Salud Mental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 — Centros de Integración Juvenil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Salud Mental (CEMESAM)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6B2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6B2D8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Apps de Apoyo Emocional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Headspace (meditación)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Daylio (diario emocional)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Sanvello (ansiedad y autoestima)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6B2D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8346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6B2D8B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Lecturas Recomendadas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40156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cuerpo lleva la cuenta" — Bessel van der Kolk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"Amarse con los ojos abiertos" — Jorge Bucay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poder del ahora" — Eckhart Tolle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3657600" cy="5143500"/>
          </a:xfrm>
          <a:prstGeom prst="rect">
            <a:avLst/>
          </a:prstGeom>
          <a:solidFill>
            <a:srgbClr val="F0DA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amor propio no es egoísmo.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el reconocimiento de que mereces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misma compasión que das a los demás."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Blanca Estela Angulo López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8A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AMOR · AUTOVIOLENTÓMETRO 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¡Felicidades por este primer paso!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este curso es un acto de valentía y amor propio.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347472" cy="347472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19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71907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Autoviolentómetro cada mes para monitorear tu progreso.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347472" cy="347472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59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591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tu Plan Personal de Amor Propio visible y actualízalo semanalmente.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347472" cy="347472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99923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lo aprendido con alguien de confianza. Enseñar es aprender dos veces.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347472" cy="347472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639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identificas zona roja o crítica: busca atención profesional sin demora.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347472" cy="347472"/>
          </a:xfrm>
          <a:prstGeom prst="ellipse">
            <a:avLst/>
          </a:prstGeom>
          <a:solidFill>
            <a:srgbClr val="D4A8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79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2793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trabajando con el AMOR ÁGAPE — el amor hacia ti mismo es un camino, no un destino.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0" y="4663440"/>
            <a:ext cx="6400800" cy="384048"/>
          </a:xfrm>
          <a:prstGeom prst="roundRect">
            <a:avLst>
              <a:gd name="adj" fmla="val 23810"/>
            </a:avLst>
          </a:prstGeom>
          <a:solidFill>
            <a:srgbClr val="A0364B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6817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mereces amor, empezando por el tuyo propio. 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D1C4D8"/>
                </a:solidFill>
              </a:rPr>
              <a:t>© 2025 Blanca Estela Angulo López · CERO AMOR®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2026-05-12T15:17:53Z</dcterms:created>
  <dcterms:modified xsi:type="dcterms:W3CDTF">2026-05-12T15:17:53Z</dcterms:modified>
</cp:coreProperties>
</file>